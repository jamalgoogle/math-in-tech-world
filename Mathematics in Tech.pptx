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Space Grotesk"/>
      <ns0:bold ns1:id="rIdFont23"/>
    </ns0:embeddedFont>
    <ns0:embeddedFont>
      <ns0:font typeface="Plus Jakarta Sans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b0d82d55-9b15-47d9-a7f6-aaa58faec718.fntdata" /><ns0:Relationship Id="rIdFont24" Type="http://schemas.openxmlformats.org/officeDocument/2006/relationships/font" Target="fonts/6aa1c8cd-efc6-4a2f-9b22-f06145f25c60.fntdata" /><ns0:Relationship Id="rIdFont25" Type="http://schemas.openxmlformats.org/officeDocument/2006/relationships/font" Target="fonts/edad554c-74aa-4f2e-b7fa-7045a5cf67d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.png"/><Relationship Id="rId4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546252"/>
            <a:ext cx="1619250" cy="447675"/>
          </a:xfrm>
          <a:prstGeom prst="roundRect">
            <a:avLst>
              <a:gd name="adj" fmla="val 17021"/>
            </a:avLst>
          </a:prstGeom>
          <a:solidFill>
            <a:srgbClr val="252D3F"/>
          </a:solidFill>
          <a:ln w="9525">
            <a:solidFill>
              <a:srgbClr val="333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81250" y="4546252"/>
            <a:ext cx="2124075" cy="447675"/>
          </a:xfrm>
          <a:prstGeom prst="roundRect">
            <a:avLst>
              <a:gd name="adj" fmla="val 17021"/>
            </a:avLst>
          </a:prstGeom>
          <a:solidFill>
            <a:srgbClr val="252D3F"/>
          </a:solidFill>
          <a:ln w="9525">
            <a:solidFill>
              <a:srgbClr val="333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4072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092672"/>
            <a:ext cx="9101137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FFFFFF"/>
                </a:solidFill>
                <a:latin typeface="Space Grotesk"/>
              </a:rPr>
              <a:t>Mathematics in Modern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36602"/>
            <a:ext cx="7524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The hidden architectural engine driving artificial intelligence, cybersecurity, graphics, and computing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1878359"/>
            <a:ext cx="4274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APPLIED MATHEMATICAL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660552"/>
            <a:ext cx="12573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12 Tech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850" y="4660552"/>
            <a:ext cx="17621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Core Engineering Pillars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52637"/>
            <a:ext cx="52959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2959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24387"/>
            <a:ext cx="52959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275" y="647700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27647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562350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848225"/>
            <a:ext cx="1524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61531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Domain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7950993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Number Theory: The Shield of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547937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Prime factorization powering RSA, ECC, HTTPS, and SSH protocols.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3381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One-way cryptographic functions securing immutable ledgers and digital signatures.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5119687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Checksums and Modular arithmetic driving QR codes and pseudorandom generators.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2252662"/>
            <a:ext cx="28753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Public-Key Cryptography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38537"/>
            <a:ext cx="24753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Hashing &amp; Blockchains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824412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Error Correction &amp; PRNG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647700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051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051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051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312896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837" y="3128962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3128962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69627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Domain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901362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Algebra: Structures, Verification &amp; Querying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Finite Fields (AES)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Galois fields enabling symmetric AES encryption and Reed-Solomon data storage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Relational Algebra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SQL query optimization engines transforming complex database executions efficiently.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Formal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Algebraic logic verifying critical microchip design and mission-critical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1871662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290887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710112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477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60579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Domain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7825978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Geometry: Spatial Computing &amp;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109787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3D Graphics &amp; Game Engines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424112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Polygon meshes, ray casting, and spatial coordinates rendering real-time virtual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529012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Computer Vision &amp; AR / VR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843337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Epipolar geometry mapping camera pixels directly to physical 3D world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948237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Robotics, CAD &amp;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5262562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Computational geometry guiding 3D printing slicers, GPS triangulation, and spatial awareness.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71662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90887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10112"/>
            <a:ext cx="529590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025" y="64770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143125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562350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98157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64579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Domain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8351043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Trigonometry: Waves, Signals &amp;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24112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Fourier transforms converting sine waves into high-speed wireless packet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43337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Trigonometric codecs compressing raw media into MP3, JPEG, and MP4 formats.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5262562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Euler angles and trigonometric calculations balancing gyroscopes and flight physics.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2109787"/>
            <a:ext cx="343792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Wi-Fi &amp; 5G Communications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3529012"/>
            <a:ext cx="29753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Digital Signal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4948237"/>
            <a:ext cx="32129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Rotations &amp; Drone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1725"/>
            <a:ext cx="53721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371725"/>
            <a:ext cx="53721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9550"/>
            <a:ext cx="53721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19550"/>
            <a:ext cx="5372100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477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67176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671762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3195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319587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72009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Domain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932616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Calculus &amp; Analysis: Continuous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000375"/>
            <a:ext cx="4914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Gradient descent and multivariate backpropagation optimizing neural network weights.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000375"/>
            <a:ext cx="4914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Differential calculus simulating continuous motion, fluid dynamics, and collision forces.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648200"/>
            <a:ext cx="4914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Feedback loops calculating continuously changing inputs for stable automation.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648200"/>
            <a:ext cx="4914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Asymptotic analysis quantifying execution growth rates and Big O complexity bounds.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2647950"/>
            <a:ext cx="313789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Machine Learning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950" y="2647950"/>
            <a:ext cx="363795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Physics Engines &amp; Simulations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4295775"/>
            <a:ext cx="2000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Control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8950" y="4295775"/>
            <a:ext cx="223777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Algorithm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85950"/>
            <a:ext cx="53721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885950"/>
            <a:ext cx="53721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9550"/>
            <a:ext cx="53721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19550"/>
            <a:ext cx="53721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275" y="64770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24790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247900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381500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38150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70389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C4899"/>
                </a:solidFill>
                <a:latin typeface="Plus Jakarta Sans"/>
              </a:rPr>
              <a:t>Domain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911363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Topology: Structure, Connectivity &amp; Meshes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647950"/>
            <a:ext cx="62257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Topological Data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962275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Uncovering high-dimensional shape structures in massive, unorganized datasets.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647950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Sensor Coverage &amp; 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962275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Verifying complete spatial coverage and robustness against individual node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781550"/>
            <a:ext cx="62257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Robot Motion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5095875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Configuration spaces ensuring collision-free movement through physical obstacles.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4781550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3D Mesh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5095875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Maintaining surface integrity and hole-free manifolds in graphics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372100" cy="49911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409700"/>
            <a:ext cx="5372100" cy="49911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5381625"/>
            <a:ext cx="474345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5381625"/>
            <a:ext cx="474345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47700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366F1"/>
                </a:solidFill>
                <a:latin typeface="Plus Jakarta Sans"/>
              </a:rPr>
              <a:t>Domain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9076134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Logic &amp; Set Theory: Computing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1724025"/>
            <a:ext cx="4838700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366F1"/>
                </a:solidFill>
                <a:latin typeface="Plus Jakarta Sans"/>
              </a:rPr>
              <a:t>Hardware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5534025"/>
            <a:ext cx="4533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AND, OR, NOT gates $\rightarrow$ Transistor Switches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724025"/>
            <a:ext cx="483870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366F1"/>
                </a:solidFill>
                <a:latin typeface="Plus Jakarta Sans"/>
              </a:rPr>
              <a:t>Software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5534025"/>
            <a:ext cx="4533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Venn Intersections $\rightarrow$ SQL Relational Joins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000250"/>
            <a:ext cx="62257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CPU &amp; 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419350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Boolean algebra orchestrating physical logic gates, arithmetic units, and CPU instruction pipelines.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000250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Types, Databases &amp; Solvers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419350"/>
            <a:ext cx="48387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Set theory powering database JOINs, type systems preventing runtime bugs, and SAT solvers proving code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5575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95575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95575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647700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0990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09900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0990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63817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Domain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825103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Combinatorics: Counting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909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Key-Space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71900"/>
            <a:ext cx="2971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Permutation and combination math measuring password entropy and cryptographic brute-force resistance.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3909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Data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771900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Huffman coding tree algorithms maximizing storage efficiency by encoding character frequency.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39090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Test-Case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771900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Combinatorial software testing generating minimal input subsets with maximum bug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08121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34803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61486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025" y="64770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73056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Domain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946368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Graph Theory: Connected Networks &amp;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28123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Shortest-Path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55746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Dijkstra and A* algorithms calculating real-time traffic routes in Google 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548062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Internet Routing &amp;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24287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BGP protocol mapping global internet topology for fast packet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81488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Social Networks &amp; CI/CD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09111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Directed acyclic graphs (DAGs) organizing build tasks and friend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19337"/>
            <a:ext cx="109728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86237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4186237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647700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Domain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837604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Probability &amp; Statistics: AI &amp;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633662"/>
            <a:ext cx="3907184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8B5CF6"/>
                </a:solidFill>
                <a:latin typeface="Plus Jakarta Sans"/>
              </a:rPr>
              <a:t>$P(w_n | w_{1..n-1})$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659" y="2757487"/>
            <a:ext cx="71513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Language Models (LLMs)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659" y="3081337"/>
            <a:ext cx="63226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Predicting next token probability distributions across multi-billion parameter vocabularies.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462462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A/B Testing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776787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Hypothesis testing and p-values measuring statistical significance in user experiments.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462462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Spam &amp;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776787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Bayesian inference filtering malicious emails and flagging fraudulent transaction patterns.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121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4803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1486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477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19250"/>
            <a:ext cx="5295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55816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Domain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72009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Linear Algebra: The Backbone of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281237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Deep Neural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55746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Massive matrix multiplications processing tensor layers inside GPUs and TPUs.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548062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Search Engines (PageRank)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24287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Eigenvectors and eigenvalues calculating web page authority and search rankings.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814887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Graphics Transformations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509111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4x4 affine matrices scaling, rotating, and translating objects in 3D pipelines.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08121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34803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61486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477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19250"/>
            <a:ext cx="5295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6248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Domain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807600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Differential Equations: Dynamic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28123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Autopilot &amp; Drone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55746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PID differential control loops adjusting physical thrust and stability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548062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Circuit &amp; Electronics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24287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SPICE software calculating transient voltages across complex microchip circuits.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81488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Engineering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091112"/>
            <a:ext cx="49911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Partial differential equations simulating aerodynamics, heat, and structural stress.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90812"/>
            <a:ext cx="35052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025" y="64770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051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051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051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" y="3128962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975" y="3128962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162" y="3128962"/>
            <a:ext cx="1619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62007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Domain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801350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Numerical Analysis: Algorithmic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AI Optimizers (Adam, SGD)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Numerical iteration algorithms preventing overflow and converging loss functions fast.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Logistics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Linear programming solving supply chain allocation and cloud resource scheduling.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652837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Floating-Point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0338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IEEE 754 arithmetic error analysis preserving accuracy across billions of FLOPS.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82790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1999357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666107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Mathematics is the Code Behind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953767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Every modern framework, cloud platform, AI model, and game engine is built on centuries of mathematical discovery.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9725" y="4830067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195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24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339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38225"/>
            <a:ext cx="8227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https://as2.ftcdn.net/v2/jpg/18/82/82/25/1000_F_1882822515_eNbhijLsDwgVqcS3XGbOkLHPG7RJBtzA.jpg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238250"/>
            <a:ext cx="2607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www.europosters.pt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https://elements-resized.envatousercontent.com/elements-video-cover-images/files/1ce2aeb6-8f41-4646-9188-c58c67db0301/inline_image_preview.jpg?w=500&amp;cf_fit=cover&amp;q=85&amp;format=auto&amp;s=ffc56f4a3236d73c284cb73a1b2be7ea9cb73574023d7e76ce7d76ff7a666881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124075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elements.envato.com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657475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https://www.ooma.com/wp-content/uploads/wireless-signals-7_thumb.jpg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857500"/>
            <a:ext cx="2250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www.ooma.com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429000"/>
            <a:ext cx="5905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https://www.ciat.org/wp-content/uploads/2019/01/2019-sarralde-bdata2.jpg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629025"/>
            <a:ext cx="1964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www.ciat.org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200525"/>
            <a:ext cx="5179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https://content.wolfram.com/sites/43/2024/08/sw-ml-hero-v3.png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400550"/>
            <a:ext cx="3476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writings.stephenwolfram.com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4972050"/>
            <a:ext cx="6846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https://www.technexion.com/wp-content/uploads/2025/08/delivery-robot-1024x585.jpg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172075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www.technexion.com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